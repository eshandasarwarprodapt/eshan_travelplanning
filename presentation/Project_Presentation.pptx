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CAPSTONE TECHNICAL EVALUATION  /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722376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4800" b="1" i="0">
                <a:solidFill>
                  <a:srgbClr val="141413"/>
                </a:solidFill>
                <a:latin typeface="Aptos"/>
              </a:rPr>
              <a:t>WAYPOINT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41413"/>
                </a:solidFill>
                <a:latin typeface="Aptos"/>
              </a:rPr>
              <a:t>AI-Powered Travel Planning
&amp; Itinerary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91840"/>
            <a:ext cx="6903720" cy="685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0" i="0">
                <a:solidFill>
                  <a:srgbClr val="686761"/>
                </a:solidFill>
                <a:latin typeface="Aptos"/>
              </a:rPr>
              <a:t>An Explainable 8-Agent LangGraph System Grounded in UCI Dataset 485 &amp; OpenStreetMap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187952"/>
            <a:ext cx="822960" cy="54864"/>
          </a:xfrm>
          <a:prstGeom prst="rect">
            <a:avLst/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443984"/>
            <a:ext cx="694944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 i="0">
                <a:solidFill>
                  <a:srgbClr val="141413"/>
                </a:solidFill>
                <a:latin typeface="Aptos"/>
              </a:rPr>
              <a:t>Beyond naive LLM wrappers: a grounded planning engine designed to resist fake ratings, broken budget math, and impossible itineraries.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875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686761"/>
                </a:solidFill>
                <a:latin typeface="Aptos"/>
              </a:rPr>
              <a:t>Python 3.11+   •   FastAPI   •   ChromaDB   •   React   •  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5303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6DBCA"/>
                </a:solidFill>
                <a:latin typeface="Aptos"/>
              </a:rPr>
              <a:t>FROM INTENT TO ITINERARY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1417320"/>
            <a:ext cx="777240" cy="640080"/>
          </a:xfrm>
          <a:prstGeom prst="line">
            <a:avLst/>
          </a:prstGeom>
          <a:ln w="28575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692640" y="1645920"/>
            <a:ext cx="914400" cy="411480"/>
          </a:xfrm>
          <a:prstGeom prst="line">
            <a:avLst/>
          </a:prstGeom>
          <a:ln w="28575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07040" y="1645920"/>
            <a:ext cx="502920" cy="868680"/>
          </a:xfrm>
          <a:prstGeom prst="line">
            <a:avLst/>
          </a:prstGeom>
          <a:ln w="28575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332720" y="2514600"/>
            <a:ext cx="777240" cy="731520"/>
          </a:xfrm>
          <a:prstGeom prst="line">
            <a:avLst/>
          </a:prstGeom>
          <a:ln w="28575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32720" y="3246120"/>
            <a:ext cx="777240" cy="914400"/>
          </a:xfrm>
          <a:prstGeom prst="line">
            <a:avLst/>
          </a:prstGeom>
          <a:ln w="28575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875520" y="4160520"/>
            <a:ext cx="1234440" cy="685800"/>
          </a:xfrm>
          <a:prstGeom prst="line">
            <a:avLst/>
          </a:prstGeom>
          <a:ln w="28575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0" y="4846320"/>
            <a:ext cx="640080" cy="822960"/>
          </a:xfrm>
          <a:prstGeom prst="line">
            <a:avLst/>
          </a:prstGeom>
          <a:ln w="28575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842248" y="1344168"/>
            <a:ext cx="146304" cy="146304"/>
          </a:xfrm>
          <a:prstGeom prst="ellipse">
            <a:avLst/>
          </a:prstGeom>
          <a:solidFill>
            <a:srgbClr val="C25E38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9488" y="1984248"/>
            <a:ext cx="146304" cy="146304"/>
          </a:xfrm>
          <a:prstGeom prst="ellipse">
            <a:avLst/>
          </a:prstGeom>
          <a:solidFill>
            <a:srgbClr val="F7F6F2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33888" y="1572768"/>
            <a:ext cx="146304" cy="146304"/>
          </a:xfrm>
          <a:prstGeom prst="ellipse">
            <a:avLst/>
          </a:prstGeom>
          <a:solidFill>
            <a:srgbClr val="F7F6F2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6808" y="2441448"/>
            <a:ext cx="146304" cy="146304"/>
          </a:xfrm>
          <a:prstGeom prst="ellipse">
            <a:avLst/>
          </a:prstGeom>
          <a:solidFill>
            <a:srgbClr val="F7F6F2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59568" y="3172968"/>
            <a:ext cx="146304" cy="146304"/>
          </a:xfrm>
          <a:prstGeom prst="ellipse">
            <a:avLst/>
          </a:prstGeom>
          <a:solidFill>
            <a:srgbClr val="F7F6F2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36808" y="4087368"/>
            <a:ext cx="146304" cy="146304"/>
          </a:xfrm>
          <a:prstGeom prst="ellipse">
            <a:avLst/>
          </a:prstGeom>
          <a:solidFill>
            <a:srgbClr val="F7F6F2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02368" y="4773168"/>
            <a:ext cx="146304" cy="146304"/>
          </a:xfrm>
          <a:prstGeom prst="ellipse">
            <a:avLst/>
          </a:prstGeom>
          <a:solidFill>
            <a:srgbClr val="F7F6F2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42448" y="5596128"/>
            <a:ext cx="146304" cy="146304"/>
          </a:xfrm>
          <a:prstGeom prst="ellipse">
            <a:avLst/>
          </a:prstGeom>
          <a:solidFill>
            <a:srgbClr val="C25E38"/>
          </a:solidFill>
          <a:ln w="19050">
            <a:solidFill>
              <a:srgbClr val="C25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6528" y="6126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E6DBCA"/>
                </a:solidFill>
                <a:latin typeface="Aptos"/>
              </a:rPr>
              <a:t>01  DISCOVER     02  PLAN     03  VALIDATE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B4B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B4B1A8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B4B1A8"/>
                </a:solidFill>
                <a:latin typeface="Aptos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02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01 /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Travel planning is a reasoning problem—not a prompt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Historical evidence, arithmetic, and geography must agree before an itinerary is useful.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10512"/>
            <a:ext cx="11109960" cy="658368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4767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700" b="1" i="0">
                <a:solidFill>
                  <a:srgbClr val="F7F6F2"/>
                </a:solidFill>
                <a:latin typeface="Aptos"/>
              </a:rPr>
              <a:t>Millions of reviews exist. Travelers still cannot interrogate them conversationally.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724912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724912"/>
            <a:ext cx="54864" cy="1847088"/>
          </a:xfrm>
          <a:prstGeom prst="rect">
            <a:avLst/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871216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01  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227832"/>
            <a:ext cx="3209544" cy="1225295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Invented properties, ratings, and places</a:t>
            </a:r>
            <a:r>
              <a:rPr sz="1100">
                <a:solidFill>
                  <a:srgbClr val="141413"/>
                </a:solidFill>
                <a:latin typeface="Aptos"/>
              </a:rPr>
              <a:t/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Evidence must precede recommendation.</a:t>
            </a:r>
            <a:r>
              <a:rPr sz="1100">
                <a:solidFill>
                  <a:srgbClr val="141413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2724912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2724912"/>
            <a:ext cx="54864" cy="1847088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871216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02  BROKEN ARITHMETIC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3227832"/>
            <a:ext cx="3209544" cy="1225295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Currency totals and category splits drift</a:t>
            </a:r>
            <a:r>
              <a:rPr sz="1100">
                <a:solidFill>
                  <a:srgbClr val="141413"/>
                </a:solidFill>
                <a:latin typeface="Aptos"/>
              </a:rPr>
              <a:t/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Budget calculations need deterministic code.</a:t>
            </a:r>
            <a:r>
              <a:rPr sz="1100">
                <a:solidFill>
                  <a:srgbClr val="141413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724912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2724912"/>
            <a:ext cx="54864" cy="1847088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871216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03  IMPOSSIBLE PACING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227832"/>
            <a:ext cx="3209544" cy="1225295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Eight cross-city stops in one afternoon</a:t>
            </a:r>
            <a:r>
              <a:rPr sz="1100">
                <a:solidFill>
                  <a:srgbClr val="141413"/>
                </a:solidFill>
                <a:latin typeface="Aptos"/>
              </a:rPr>
              <a:t/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Routes, durations, and buffers constrain plans.</a:t>
            </a:r>
            <a:r>
              <a:rPr sz="1100">
                <a:solidFill>
                  <a:srgbClr val="141413"/>
                </a:solidFill>
                <a:latin typeface="Apto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864608"/>
            <a:ext cx="11109960" cy="1078992"/>
          </a:xfrm>
          <a:prstGeom prst="roundRect">
            <a:avLst>
              <a:gd name="adj" fmla="val 8000"/>
            </a:avLst>
          </a:prstGeom>
          <a:solidFill>
            <a:srgbClr val="EB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0749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 i="0">
                <a:solidFill>
                  <a:srgbClr val="141413"/>
                </a:solidFill>
                <a:latin typeface="Aptos"/>
              </a:rP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45896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ptos"/>
              </a:rPr>
              <a:t>less manual research time*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157216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  <a:latin typeface="Aptos"/>
              </a:rPr>
              <a:t>Personalized trip curation for agencies—with traceable evidence, feasible budgets, and schedules that respect real-world constraints.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108192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1">
                <a:solidFill>
                  <a:srgbClr val="686761"/>
                </a:solidFill>
                <a:latin typeface="Aptos"/>
              </a:rPr>
              <a:t>*Business-value target supplied in project brief; validate with a measured agency workflow pilot.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03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02 /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A grounded planning engine with three control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Natural-language intent becomes a sourced, itemized, chronologically paced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470916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02920" cy="612648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02536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7F6F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920240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2024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686761"/>
                </a:solidFill>
                <a:latin typeface="Aptos"/>
              </a:rPr>
              <a:t>Parse intent &amp;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24328"/>
            <a:ext cx="470916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624328"/>
            <a:ext cx="502920" cy="612648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98064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7F6F2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715768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715768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686761"/>
                </a:solidFill>
                <a:latin typeface="Aptos"/>
              </a:rPr>
              <a:t>Rank evidence + live POIs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19856"/>
            <a:ext cx="470916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419856"/>
            <a:ext cx="502920" cy="612648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593592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7F6F2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511296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CALCULATE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511296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686761"/>
                </a:solidFill>
                <a:latin typeface="Aptos"/>
              </a:rPr>
              <a:t>Compute budget in 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15383"/>
            <a:ext cx="470916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215383"/>
            <a:ext cx="502920" cy="612648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389120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7F6F2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4306823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306823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686761"/>
                </a:solidFill>
                <a:latin typeface="Aptos"/>
              </a:rPr>
              <a:t>Sequence days &amp; transit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010912"/>
            <a:ext cx="4709160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5010912"/>
            <a:ext cx="502920" cy="612648"/>
          </a:xfrm>
          <a:prstGeom prst="roundRect">
            <a:avLst>
              <a:gd name="adj" fmla="val 8000"/>
            </a:avLst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184648"/>
            <a:ext cx="3931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F7F6F2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510235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10235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686761"/>
                </a:solidFill>
                <a:latin typeface="Aptos"/>
              </a:rPr>
              <a:t>Score, refine, approve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96128" y="1828800"/>
            <a:ext cx="5989320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6128" y="1828800"/>
            <a:ext cx="54864" cy="1161288"/>
          </a:xfrm>
          <a:prstGeom prst="rect">
            <a:avLst/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1975104"/>
            <a:ext cx="5678424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01  EMPIRICAL 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331720"/>
            <a:ext cx="5669280" cy="5394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5,456 review vectors</a:t>
            </a:r>
            <a:r>
              <a:rPr sz="1100">
                <a:solidFill>
                  <a:srgbClr val="141413"/>
                </a:solidFill>
                <a:latin typeface="Aptos"/>
              </a:rPr>
              <a:t> from UCI Dataset 485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Live geographic POIs</a:t>
            </a:r>
            <a:r>
              <a:rPr sz="1100">
                <a:solidFill>
                  <a:srgbClr val="141413"/>
                </a:solidFill>
                <a:latin typeface="Aptos"/>
              </a:rPr>
              <a:t> via OpenStreetMap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96128" y="3182112"/>
            <a:ext cx="5989320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96128" y="3182112"/>
            <a:ext cx="54864" cy="1161288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3328416"/>
            <a:ext cx="5678424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02  DETERMINISTIC FINANCIALS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685032"/>
            <a:ext cx="5669280" cy="5394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Pure Python math</a:t>
            </a:r>
            <a:r>
              <a:rPr sz="1100">
                <a:solidFill>
                  <a:srgbClr val="141413"/>
                </a:solidFill>
                <a:latin typeface="Aptos"/>
              </a:rPr>
              <a:t> for stay, food, activities, transit, misc.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Auditable totals</a:t>
            </a:r>
            <a:r>
              <a:rPr sz="1100">
                <a:solidFill>
                  <a:srgbClr val="141413"/>
                </a:solidFill>
                <a:latin typeface="Aptos"/>
              </a:rPr>
              <a:t> with visible category allocations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96128" y="4535424"/>
            <a:ext cx="5989320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96128" y="4535424"/>
            <a:ext cx="54864" cy="1161288"/>
          </a:xfrm>
          <a:prstGeom prst="rect">
            <a:avLst/>
          </a:prstGeom>
          <a:solidFill>
            <a:srgbClr val="43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4681728"/>
            <a:ext cx="5678424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03  AUTONOMOUS SELF-REFINEMENT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038344"/>
            <a:ext cx="5669280" cy="5394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LLM-as-a-Judge</a:t>
            </a:r>
            <a:r>
              <a:rPr sz="1100">
                <a:solidFill>
                  <a:srgbClr val="141413"/>
                </a:solidFill>
                <a:latin typeface="Aptos"/>
              </a:rPr>
              <a:t> evaluates draft quality against criteria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1413"/>
                </a:solidFill>
                <a:latin typeface="Aptos"/>
              </a:rPr>
              <a:t>Conditional loop</a:t>
            </a:r>
            <a:r>
              <a:rPr sz="1100">
                <a:solidFill>
                  <a:srgbClr val="141413"/>
                </a:solidFill>
                <a:latin typeface="Aptos"/>
              </a:rPr>
              <a:t> replans when score falls below 0.80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04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Evidence flows through a measurable retrieval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Hybrid retrieval combines semantic intent with exact named-landmark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299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23113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UCI 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51460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5,456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192024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0299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23113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51460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Clean + chunk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192024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0299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23113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51460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all-MiniLM-L6-v2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4927" y="192024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655" y="20299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5" y="223113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5" y="251460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Chroma + BM25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92024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0655" y="20299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5" y="223113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HYBRID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5" y="251460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RRF fusion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388620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3995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5" y="419709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RERANK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7655" y="448056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5-factor score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388620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3995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19709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LANGGRAPH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48056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Agent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95928" y="388620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05656" y="3995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5656" y="419709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FASTAPI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5656" y="448056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10 REST APIs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9928" y="3886200"/>
            <a:ext cx="190195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9656" y="3995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C25E38"/>
                </a:solidFill>
                <a:latin typeface="Aptos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4197096"/>
            <a:ext cx="1719072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CLIENTS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9656" y="4480560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React + Streamlit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496312" y="2386584"/>
            <a:ext cx="320040" cy="0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82312" y="2386584"/>
            <a:ext cx="320040" cy="0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68312" y="2386584"/>
            <a:ext cx="320040" cy="0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54311" y="2386584"/>
            <a:ext cx="320041" cy="0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652760" y="2862072"/>
            <a:ext cx="0" cy="576072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8247888" y="4352544"/>
            <a:ext cx="320040" cy="0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961888" y="4352544"/>
            <a:ext cx="320040" cy="0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675888" y="4352544"/>
            <a:ext cx="320040" cy="0"/>
          </a:xfrm>
          <a:prstGeom prst="line">
            <a:avLst/>
          </a:prstGeom>
          <a:ln w="21590">
            <a:solidFill>
              <a:srgbClr val="C25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66928" y="5230368"/>
            <a:ext cx="11018520" cy="749808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537667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6DBCA"/>
                </a:solidFill>
                <a:latin typeface="Aptos"/>
              </a:rPr>
              <a:t>LIVE GEO GROUNDING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358384"/>
            <a:ext cx="84582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F7F6F2"/>
                </a:solidFill>
                <a:latin typeface="Aptos"/>
              </a:rPr>
              <a:t>Photon API + Nominatim resolve attraction names and geographic context worldwide via OpenStreetMap.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108192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0">
                <a:solidFill>
                  <a:srgbClr val="686761"/>
                </a:solidFill>
                <a:latin typeface="Aptos"/>
              </a:rPr>
              <a:t>RRF = Reciprocal Rank Fusion  •  Dense retrieval + BM25 lexical retrieval  •  5-factor reranking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05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04 /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Eight specialist agents. One conditional state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Typed state and explicit routing make the workflow inspectable—not a free-form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4767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8541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Input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4505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Bounds: 1–30 days; injection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82880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94767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18541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Preference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4505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Duration, budget, party, interests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94767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18541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Destination 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4505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Hybrid-RAG candidate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82880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94767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8541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Budget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505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Python-only deterministic arithmetic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1752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1363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37413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Activity Recommender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363931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Evidence-ranked attraction choices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301752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31363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337413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Accommodation Finder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363931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Lodging tiers + neighborhood strategy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301752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1363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37413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Flight Finder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63931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Typical sector fares; realistic options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3017520"/>
            <a:ext cx="259689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1363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374136"/>
            <a:ext cx="230428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Itinerary Planner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63931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AM / PM / evening + hotel-night anchors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370832"/>
            <a:ext cx="10972800" cy="1115568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5537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E6DBCA"/>
                </a:solidFill>
                <a:latin typeface="Aptos"/>
              </a:rPr>
              <a:t>QUALITY VALIDATOR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488289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F7F6F2"/>
                </a:solidFill>
                <a:latin typeface="Aptos"/>
              </a:rPr>
              <a:t>LLM Judge scores grounding, feasibility, pacing, and completeness.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42432" y="4599432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3016" y="474573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00" b="1" i="0">
                <a:solidFill>
                  <a:srgbClr val="F7F6F2"/>
                </a:solidFill>
                <a:latin typeface="Aptos"/>
              </a:rPr>
              <a:t>THRESHOLD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3016" y="4928616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F7F6F2"/>
                </a:solidFill>
                <a:latin typeface="Aptos"/>
              </a:rPr>
              <a:t>0.80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46817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7F6F2"/>
                </a:solidFill>
                <a:latin typeface="Aptos"/>
              </a:rPr>
              <a:t>≥ 0.80  APPROVE     /     &lt; 0.80  REPLAN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806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1">
                <a:solidFill>
                  <a:srgbClr val="686761"/>
                </a:solidFill>
                <a:latin typeface="Aptos"/>
              </a:rPr>
              <a:t>Engineering note: the brief specifies an 8-agent workflow plus a quality-validator node; validator is shown separately.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06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05 /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Every recommendation has a visible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A weighted composite score turns preference fit and evidence into an inspectable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48256"/>
            <a:ext cx="10424160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500" b="1" i="0">
                <a:solidFill>
                  <a:srgbClr val="F7F6F2"/>
                </a:solidFill>
                <a:latin typeface="Aptos"/>
              </a:rPr>
              <a:t>Final Score = 0.30·PreferenceMatch + 0.25·SemanticRelevance + 0.20·HistoricalRating + 0.15·EvidenceStrength + 0.10·BudgetCompatibility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6324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27832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C25E38"/>
                </a:solidFill>
                <a:latin typeface="Aptos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033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Preference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005072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Does it fit the traveler’s stated interests?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06324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3227832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41413"/>
                </a:solidFill>
                <a:latin typeface="Aptos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7033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Semantic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4005072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Does retrieved evidence match the query?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306324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3227832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41413"/>
                </a:solidFill>
                <a:latin typeface="Apto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37033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Historical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005072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What do historical reviews indicate?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2904" y="306324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3227832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41413"/>
                </a:solidFill>
                <a:latin typeface="Aptos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37033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Evidence strength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4005072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How much support backs the result?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54896" y="306324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3227832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41413"/>
                </a:solidFill>
                <a:latin typeface="Aptos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7033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  <a:latin typeface="Aptos"/>
              </a:rPr>
              <a:t>Budget compatibility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005072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Can it fit the available spend?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28032"/>
            <a:ext cx="5321808" cy="859536"/>
          </a:xfrm>
          <a:prstGeom prst="roundRect">
            <a:avLst>
              <a:gd name="adj" fmla="val 8000"/>
            </a:avLst>
          </a:prstGeom>
          <a:solidFill>
            <a:srgbClr val="EB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0017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C25E38"/>
                </a:solidFill>
                <a:latin typeface="Aptos"/>
              </a:rPr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  <a:latin typeface="Aptos"/>
              </a:rPr>
              <a:t>Structured component scores in response payloads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828032"/>
            <a:ext cx="5367528" cy="859536"/>
          </a:xfrm>
          <a:prstGeom prst="roundRect">
            <a:avLst>
              <a:gd name="adj" fmla="val 8000"/>
            </a:avLst>
          </a:prstGeom>
          <a:solidFill>
            <a:srgbClr val="EB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50017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C25E38"/>
                </a:solidFill>
                <a:latin typeface="Aptos"/>
              </a:rPr>
              <a:t>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983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  <a:latin typeface="Aptos"/>
              </a:rPr>
              <a:t>Score breakdown shown alongside each recommendation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2531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1">
                <a:solidFill>
                  <a:srgbClr val="686761"/>
                </a:solidFill>
                <a:latin typeface="Aptos"/>
              </a:rPr>
              <a:t>Weights sum to 1.00; component normalization and missing-evidence handling should be versioned and tested.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07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06 /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A practical stack from retrieval to evaluator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Separation of orchestration, API contracts, retrieval, and presentation supports iteration.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64008" cy="1033271"/>
          </a:xfrm>
          <a:prstGeom prst="rect">
            <a:avLst/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65960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BACKEND MICROSERVICE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Python 3.11+  •  FastAPI  •  Uvicorn  •  Pydantic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60320"/>
            <a:ext cx="4892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10 REST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828800"/>
            <a:ext cx="64008" cy="1033271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965960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686761"/>
                </a:solidFill>
                <a:latin typeface="Aptos"/>
              </a:rPr>
              <a:t>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22199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LangGraph  •  Typed StateGraph  •  Conditional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60320"/>
            <a:ext cx="4892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Traceable state transitions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72384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72384"/>
            <a:ext cx="64008" cy="1033271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209544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686761"/>
                </a:solidFill>
                <a:latin typeface="Aptos"/>
              </a:rPr>
              <a:t>RETRIEVAL &amp;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46557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ChromaDB cosine similarity  •  BM25 Okapi  •  Sentence-Transformers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803904"/>
            <a:ext cx="4892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Dense + lexical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072384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072384"/>
            <a:ext cx="64008" cy="1033271"/>
          </a:xfrm>
          <a:prstGeom prst="rect">
            <a:avLst/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209544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LLM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46557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Google Gemini 2.5 Flash  •  Structured JSON enforcement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803904"/>
            <a:ext cx="4892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AI credits / schema-constrained outputs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315968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315968"/>
            <a:ext cx="64008" cy="1033271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453128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686761"/>
                </a:solidFill>
                <a:latin typeface="Aptos"/>
              </a:rPr>
              <a:t>STREAMLIT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7091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frontend.py  •  Fast evaluator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047488"/>
            <a:ext cx="4892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Rapid testing surface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4315968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4315968"/>
            <a:ext cx="64008" cy="1033271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4453128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686761"/>
                </a:solidFill>
                <a:latin typeface="Aptos"/>
              </a:rPr>
              <a:t>REACT WORKSPACE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47091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41413"/>
                </a:solidFill>
                <a:latin typeface="Aptos"/>
              </a:rPr>
              <a:t>React 18  •  Vite  •  TypeScript  •  Tailwind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5047488"/>
            <a:ext cx="4892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686761"/>
                </a:solidFill>
                <a:latin typeface="Aptos"/>
              </a:rPr>
              <a:t>Interactive agent traces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08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07 /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From one natural-language query to a feasible 5-day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Illustrative walkthrough using the project brief’s sample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0972800" cy="694944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2938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E6DBCA"/>
                </a:solidFill>
                <a:latin typeface="Aptos"/>
              </a:rP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11095"/>
            <a:ext cx="93726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F7F6F2"/>
                </a:solidFill>
                <a:latin typeface="Aptos"/>
              </a:rPr>
              <a:t>“I have 5 days and around ₹40,000. Travelling with friends and want beaches, nightlife, and adventure.”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34930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500" b="1" i="0">
                <a:solidFill>
                  <a:srgbClr val="C25E38"/>
                </a:solidFill>
                <a:latin typeface="Aptos"/>
              </a:rPr>
              <a:t>GOA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7355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686761"/>
                </a:solidFill>
                <a:latin typeface="Aptos"/>
              </a:rPr>
              <a:t>Destination picked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11296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437052"/>
                </a:solidFill>
                <a:latin typeface="Aptos"/>
              </a:rPr>
              <a:t>94.2%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743200"/>
            <a:ext cx="34930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880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500" b="1" i="0">
                <a:solidFill>
                  <a:srgbClr val="141413"/>
                </a:solidFill>
                <a:latin typeface="Aptos"/>
              </a:rPr>
              <a:t>₹35,600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27355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686761"/>
                </a:solidFill>
                <a:latin typeface="Aptos"/>
              </a:rPr>
              <a:t>Estimated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511296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437052"/>
                </a:solidFill>
                <a:latin typeface="Aptos"/>
              </a:rPr>
              <a:t>₹4,400 surplus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2743200"/>
            <a:ext cx="34930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2880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500" b="1" i="0">
                <a:solidFill>
                  <a:srgbClr val="141413"/>
                </a:solidFill>
                <a:latin typeface="Aptos"/>
              </a:rPr>
              <a:t>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327355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686761"/>
                </a:solidFill>
                <a:latin typeface="Aptos"/>
              </a:rPr>
              <a:t>Quality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3511296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437052"/>
                </a:solidFill>
                <a:latin typeface="Aptos"/>
              </a:rPr>
              <a:t>Approved first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0965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141413"/>
                </a:solidFill>
                <a:latin typeface="Aptos"/>
              </a:rPr>
              <a:t>BUDGET ALLOCATION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425696"/>
            <a:ext cx="4107119" cy="246888"/>
          </a:xfrm>
          <a:prstGeom prst="rect">
            <a:avLst/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4462272"/>
            <a:ext cx="4052255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00" b="1" i="0">
                <a:solidFill>
                  <a:srgbClr val="F7F6F2"/>
                </a:solidFill>
                <a:latin typeface="Aptos"/>
              </a:rPr>
              <a:t>Stay 38%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28911" y="4425696"/>
            <a:ext cx="2593969" cy="246888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6343" y="4462272"/>
            <a:ext cx="2539105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00" b="1" i="0">
                <a:solidFill>
                  <a:srgbClr val="F7F6F2"/>
                </a:solidFill>
                <a:latin typeface="Aptos"/>
              </a:rPr>
              <a:t>Food 24%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22880" y="4425696"/>
            <a:ext cx="1945477" cy="246888"/>
          </a:xfrm>
          <a:prstGeom prst="rect">
            <a:avLst/>
          </a:prstGeom>
          <a:solidFill>
            <a:srgbClr val="8E8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0312" y="4462272"/>
            <a:ext cx="1890613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00" b="1" i="0">
                <a:solidFill>
                  <a:srgbClr val="141413"/>
                </a:solidFill>
                <a:latin typeface="Aptos"/>
              </a:rPr>
              <a:t>Activities 18%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68358" y="4425696"/>
            <a:ext cx="1296984" cy="246888"/>
          </a:xfrm>
          <a:prstGeom prst="rect">
            <a:avLst/>
          </a:prstGeom>
          <a:solidFill>
            <a:srgbClr val="AF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5790" y="4462272"/>
            <a:ext cx="1242120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00" b="1" i="0">
                <a:solidFill>
                  <a:srgbClr val="141413"/>
                </a:solidFill>
                <a:latin typeface="Aptos"/>
              </a:rPr>
              <a:t>Transit 12%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65343" y="4425696"/>
            <a:ext cx="864656" cy="246888"/>
          </a:xfrm>
          <a:prstGeom prst="rect">
            <a:avLst/>
          </a:prstGeom>
          <a:solidFill>
            <a:srgbClr val="D2C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4892040"/>
            <a:ext cx="53218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892040"/>
            <a:ext cx="54864" cy="960120"/>
          </a:xfrm>
          <a:prstGeom prst="rect">
            <a:avLst/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38344"/>
            <a:ext cx="5010912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CURATED MOMENTS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94959"/>
            <a:ext cx="5001768" cy="33832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141413"/>
                </a:solidFill>
                <a:latin typeface="Aptos"/>
              </a:rPr>
              <a:t>Baga</a:t>
            </a:r>
            <a:r>
              <a:rPr sz="1000">
                <a:solidFill>
                  <a:srgbClr val="141413"/>
                </a:solidFill>
                <a:latin typeface="Aptos"/>
              </a:rPr>
              <a:t> watersports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41413"/>
                </a:solidFill>
                <a:latin typeface="Aptos"/>
              </a:rPr>
              <a:t>Thalassa</a:t>
            </a:r>
            <a:r>
              <a:rPr sz="1000">
                <a:solidFill>
                  <a:srgbClr val="141413"/>
                </a:solidFill>
                <a:latin typeface="Aptos"/>
              </a:rPr>
              <a:t> sunset lounge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41413"/>
                </a:solidFill>
                <a:latin typeface="Aptos"/>
              </a:rPr>
              <a:t>Club Cubana</a:t>
            </a:r>
            <a:r>
              <a:rPr sz="1000">
                <a:solidFill>
                  <a:srgbClr val="141413"/>
                </a:solidFill>
                <a:latin typeface="Aptos"/>
              </a:rPr>
              <a:t> DJ night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892040"/>
            <a:ext cx="536752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4892040"/>
            <a:ext cx="54864" cy="960120"/>
          </a:xfrm>
          <a:prstGeom prst="rect">
            <a:avLst/>
          </a:prstGeom>
          <a:solidFill>
            <a:srgbClr val="43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5038344"/>
            <a:ext cx="5056632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  <a:latin typeface="Aptos"/>
              </a:rPr>
              <a:t>PACING &amp;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5394959"/>
            <a:ext cx="5047488" cy="33832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b="1" sz="900">
                <a:solidFill>
                  <a:srgbClr val="141413"/>
                </a:solidFill>
                <a:latin typeface="Aptos"/>
              </a:rPr>
              <a:t>5 days</a:t>
            </a:r>
            <a:r>
              <a:rPr sz="900">
                <a:solidFill>
                  <a:srgbClr val="141413"/>
                </a:solidFill>
                <a:latin typeface="Aptos"/>
              </a:rPr>
              <a:t> sequenced into morning / afternoon / evening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41413"/>
                </a:solidFill>
                <a:latin typeface="Aptos"/>
              </a:rPr>
              <a:t>Buffers + returns</a:t>
            </a:r>
            <a:r>
              <a:rPr sz="900">
                <a:solidFill>
                  <a:srgbClr val="141413"/>
                </a:solidFill>
                <a:latin typeface="Aptos"/>
              </a:rPr>
              <a:t> transit-aware pacing and hotel-night anchors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41413"/>
                </a:solidFill>
                <a:latin typeface="Aptos"/>
              </a:rPr>
              <a:t>Quality gate</a:t>
            </a:r>
            <a:r>
              <a:rPr sz="900">
                <a:solidFill>
                  <a:srgbClr val="141413"/>
                </a:solidFill>
                <a:latin typeface="Aptos"/>
              </a:rPr>
              <a:t> 93% score; approved first iteration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141413"/>
                </a:solidFill>
                <a:latin typeface="Aptos"/>
              </a:rPr>
              <a:t>09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08 /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Evaluation targets are exceeded across four quality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686761"/>
                </a:solidFill>
                <a:latin typeface="Aptos"/>
              </a:rPr>
              <a:t>Project-reported results; benchmark reproducibility depends on dataset, prompts, and scoring protocol.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56816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1" i="0">
                <a:solidFill>
                  <a:srgbClr val="C25E38"/>
                </a:solidFill>
                <a:latin typeface="Aptos"/>
              </a:rPr>
              <a:t>0.94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19933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ptos"/>
              </a:rPr>
              <a:t>Retrieval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29514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686761"/>
                </a:solidFill>
                <a:latin typeface="Aptos"/>
              </a:rPr>
              <a:t>Target ≥ 0.75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576" y="2103120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E1E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85416"/>
            <a:ext cx="941832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50" b="1" i="0">
                <a:solidFill>
                  <a:srgbClr val="437052"/>
                </a:solidFill>
                <a:latin typeface="Aptos"/>
              </a:rPr>
              <a:t>EXCEEDED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956816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1" i="0">
                <a:solidFill>
                  <a:srgbClr val="C25E38"/>
                </a:solidFill>
                <a:latin typeface="Aptos"/>
              </a:rPr>
              <a:t>0.91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19933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ptos"/>
              </a:rPr>
              <a:t>Grounding faithfulness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29514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686761"/>
                </a:solidFill>
                <a:latin typeface="Aptos"/>
              </a:rPr>
              <a:t>Target ≥ 0.85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04704" y="2103120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E1E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59568" y="2185416"/>
            <a:ext cx="941832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50" b="1" i="0">
                <a:solidFill>
                  <a:srgbClr val="437052"/>
                </a:solidFill>
                <a:latin typeface="Aptos"/>
              </a:rPr>
              <a:t>EXCEEDED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081528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09544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1" i="0">
                <a:solidFill>
                  <a:srgbClr val="C25E38"/>
                </a:solidFill>
                <a:latin typeface="Aptos"/>
              </a:rPr>
              <a:t>0.96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2461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ptos"/>
              </a:rPr>
              <a:t>Preference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35478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686761"/>
                </a:solidFill>
                <a:latin typeface="Aptos"/>
              </a:rPr>
              <a:t>Target ≥ 0.85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3355848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E1E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38144"/>
            <a:ext cx="941832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50" b="1" i="0">
                <a:solidFill>
                  <a:srgbClr val="437052"/>
                </a:solidFill>
                <a:latin typeface="Aptos"/>
              </a:rPr>
              <a:t>EXCEEDED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3081528"/>
            <a:ext cx="5321808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209544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1" i="0">
                <a:solidFill>
                  <a:srgbClr val="C25E38"/>
                </a:solidFill>
                <a:latin typeface="Aptos"/>
              </a:rPr>
              <a:t>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6" y="32461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  <a:latin typeface="Aptos"/>
              </a:rPr>
              <a:t>Itinerary coherence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35478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686761"/>
                </a:solidFill>
                <a:latin typeface="Aptos"/>
              </a:rPr>
              <a:t>Target ≥ 0.80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04704" y="3355848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E1E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9568" y="3438144"/>
            <a:ext cx="941832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750" b="1" i="0">
                <a:solidFill>
                  <a:srgbClr val="437052"/>
                </a:solidFill>
                <a:latin typeface="Aptos"/>
              </a:rPr>
              <a:t>EXCEEDED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98848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E6DBCA"/>
                </a:solidFill>
                <a:latin typeface="Aptos"/>
              </a:rPr>
              <a:t>COMPOSITE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910328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1" i="0">
                <a:solidFill>
                  <a:srgbClr val="F7F6F2"/>
                </a:solidFill>
                <a:latin typeface="Aptos"/>
              </a:rPr>
              <a:t>0.94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02005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6DBCA"/>
                </a:solidFill>
                <a:latin typeface="Aptos"/>
              </a:rPr>
              <a:t>/ 1.00  PASSED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4498848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EB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64515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MEAN END-TO-END LATENCY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1032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172 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4498848"/>
            <a:ext cx="3639312" cy="1143000"/>
          </a:xfrm>
          <a:prstGeom prst="roundRect">
            <a:avLst>
              <a:gd name="adj" fmla="val 8000"/>
            </a:avLst>
          </a:prstGeom>
          <a:solidFill>
            <a:srgbClr val="EB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1583" y="464515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686761"/>
                </a:solidFill>
                <a:latin typeface="Aptos"/>
              </a:rPr>
              <a:t>AUTOMATED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1583" y="4910328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141413"/>
                </a:solidFill>
                <a:latin typeface="Aptos"/>
              </a:rPr>
              <a:t>27 passing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91616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0" i="1">
                <a:solidFill>
                  <a:srgbClr val="686761"/>
                </a:solidFill>
                <a:latin typeface="Aptos"/>
              </a:rPr>
              <a:t>Method note: DeepEval / RAGAS-style dimensions are only comparable when evaluation sets, judge prompts, and aggregation are fixed.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686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686761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686761"/>
                </a:solidFill>
                <a:latin typeface="Aptos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6DBCA"/>
                </a:solidFill>
                <a:latin typeface="Aptos"/>
              </a:rPr>
              <a:t>WAYPOINT  /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5603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00" b="1" i="0">
                <a:solidFill>
                  <a:srgbClr val="F7F6F2"/>
                </a:solidFill>
                <a:latin typeface="Aptos"/>
              </a:rPr>
              <a:t>10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E6DBCA"/>
                </a:solidFill>
                <a:latin typeface="Aptos"/>
              </a:rPr>
              <a:t>09 / LEARNINGS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600" b="1" i="0">
                <a:solidFill>
                  <a:srgbClr val="F7F6F2"/>
                </a:solidFill>
                <a:latin typeface="Aptos"/>
              </a:rPr>
              <a:t>Reliability comes from constraints, evidence, and explicit feedback loops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0" i="0">
                <a:solidFill>
                  <a:srgbClr val="E6DBCA"/>
                </a:solidFill>
                <a:latin typeface="Aptos"/>
              </a:rPr>
              <a:t>The next step is to connect the planning engine to live operational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272724"/>
          </a:solidFill>
          <a:ln w="12700">
            <a:solidFill>
              <a:srgbClr val="41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3230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7F6F2"/>
                </a:solidFill>
                <a:latin typeface="Aptos"/>
              </a:rPr>
              <a:t>DON’T DELEGATE 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9806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E6DBCA"/>
                </a:solidFill>
                <a:latin typeface="Aptos"/>
              </a:rPr>
              <a:t>Python math is deterministic; LLMs explain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6596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272724"/>
          </a:solidFill>
          <a:ln w="12700">
            <a:solidFill>
              <a:srgbClr val="41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1305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43230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7F6F2"/>
                </a:solidFill>
                <a:latin typeface="Aptos"/>
              </a:rPr>
              <a:t>GROUND EVERY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79806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E6DBCA"/>
                </a:solidFill>
                <a:latin typeface="Aptos"/>
              </a:rPr>
              <a:t>Review evidence + agent traces make recommendations inspectable.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96596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272724"/>
          </a:solidFill>
          <a:ln w="12700">
            <a:solidFill>
              <a:srgbClr val="41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21305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43230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7F6F2"/>
                </a:solidFill>
                <a:latin typeface="Aptos"/>
              </a:rPr>
              <a:t>HYBRID RETRIEVAL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2798064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E6DBCA"/>
                </a:solidFill>
                <a:latin typeface="Aptos"/>
              </a:rPr>
              <a:t>BM25 catches named landmarks dense search can under-rank.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673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FUTURE ROADMAP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33087"/>
            <a:ext cx="3493008" cy="640080"/>
          </a:xfrm>
          <a:prstGeom prst="roundRect">
            <a:avLst>
              <a:gd name="adj" fmla="val 8000"/>
            </a:avLst>
          </a:prstGeom>
          <a:solidFill>
            <a:srgbClr val="30302C"/>
          </a:solidFill>
          <a:ln w="12700">
            <a:solidFill>
              <a:srgbClr val="41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2511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42976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7F6F2"/>
                </a:solidFill>
                <a:latin typeface="Aptos"/>
              </a:rPr>
              <a:t>Live airline GDS feeds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133087"/>
            <a:ext cx="3493008" cy="640080"/>
          </a:xfrm>
          <a:prstGeom prst="roundRect">
            <a:avLst>
              <a:gd name="adj" fmla="val 8000"/>
            </a:avLst>
          </a:prstGeom>
          <a:solidFill>
            <a:srgbClr val="30302C"/>
          </a:solidFill>
          <a:ln w="12700">
            <a:solidFill>
              <a:srgbClr val="41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432511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2976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7F6F2"/>
                </a:solidFill>
                <a:latin typeface="Aptos"/>
              </a:rPr>
              <a:t>Multi-currency dynamic FX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4133087"/>
            <a:ext cx="3493008" cy="640080"/>
          </a:xfrm>
          <a:prstGeom prst="roundRect">
            <a:avLst>
              <a:gd name="adj" fmla="val 8000"/>
            </a:avLst>
          </a:prstGeom>
          <a:solidFill>
            <a:srgbClr val="30302C"/>
          </a:solidFill>
          <a:ln w="12700">
            <a:solidFill>
              <a:srgbClr val="414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3" y="432511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C25E38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976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7F6F2"/>
                </a:solidFill>
                <a:latin typeface="Aptos"/>
              </a:rPr>
              <a:t>Weather radar overlays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93792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76672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800" b="1" i="0">
                <a:solidFill>
                  <a:srgbClr val="F7F6F2"/>
                </a:solidFill>
                <a:latin typeface="Aptos"/>
              </a:rPr>
              <a:t>WAYPOINT: Explainable, Grounded, and Autonomous Travel Intelligence.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904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E6DBCA"/>
                </a:solidFill>
                <a:latin typeface="Aptos"/>
              </a:rPr>
              <a:t>Q&amp;A  /  2 MINUTES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B4B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1" i="0">
                <a:solidFill>
                  <a:srgbClr val="B4B1A8"/>
                </a:solidFill>
                <a:latin typeface="Aptos"/>
              </a:rPr>
              <a:t>EXPLAINABLE  •  GROUNDED  •  AUTONOMOUS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65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750" b="1" i="0">
                <a:solidFill>
                  <a:srgbClr val="B4B1A8"/>
                </a:solidFill>
                <a:latin typeface="Apto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